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0" r:id="rId2"/>
    <p:sldId id="260" r:id="rId3"/>
    <p:sldId id="261" r:id="rId4"/>
    <p:sldId id="262" r:id="rId5"/>
    <p:sldId id="264" r:id="rId6"/>
    <p:sldId id="263" r:id="rId7"/>
    <p:sldId id="265" r:id="rId8"/>
    <p:sldId id="266"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19"/>
    <p:restoredTop sz="58785"/>
  </p:normalViewPr>
  <p:slideViewPr>
    <p:cSldViewPr snapToGrid="0">
      <p:cViewPr>
        <p:scale>
          <a:sx n="58" d="100"/>
          <a:sy n="58" d="100"/>
        </p:scale>
        <p:origin x="6128" y="1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2E683-3FFB-534F-BD9E-2C4177EA173C}" type="datetimeFigureOut">
              <a:rPr lang="en-US" smtClean="0"/>
              <a:t>1/15/26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39015-E69B-A147-93C7-94CD702798DB}" type="slidenum">
              <a:rPr lang="en-US" smtClean="0"/>
              <a:t>‹#›</a:t>
            </a:fld>
            <a:endParaRPr lang="en-US"/>
          </a:p>
        </p:txBody>
      </p:sp>
    </p:spTree>
    <p:extLst>
      <p:ext uri="{BB962C8B-B14F-4D97-AF65-F5344CB8AC3E}">
        <p14:creationId xmlns:p14="http://schemas.microsoft.com/office/powerpoint/2010/main" val="685912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Political satire is more suitable for the digital age than traditional activism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Traditional forms of activism: protest, civil disobedience and public demonstrations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Protests abundant but political divisions deepen</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Reactance theory: When people feel directly persuaded or pressured, they instinctively resist. Overt attempts to change minds actually threaten our sense of autonomy, resist message and potentially strengthen our original positions. Traditional activism, often triggers exactly this defensive response.</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BD339015-E69B-A147-93C7-94CD702798DB}" type="slidenum">
              <a:rPr lang="en-US" smtClean="0"/>
              <a:t>1</a:t>
            </a:fld>
            <a:endParaRPr lang="en-US"/>
          </a:p>
        </p:txBody>
      </p:sp>
    </p:spTree>
    <p:extLst>
      <p:ext uri="{BB962C8B-B14F-4D97-AF65-F5344CB8AC3E}">
        <p14:creationId xmlns:p14="http://schemas.microsoft.com/office/powerpoint/2010/main" val="3442103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Political satire is more suitable for the digital age than traditional activism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Traditional forms of activism: protest, civil disobedience and public demonstrations rely on direct persuasion of an opposition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Form of activism abundant but political divisions deepen</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Reactance theory: When people feel directly persuaded or pressured, they instinctively resist. Overt attempts to change minds actually threaten our sense of autonomy, resist message and potentially strengthen our original positions. Traditional activism often triggers exactly this defensive response.</a:t>
            </a:r>
          </a:p>
          <a:p>
            <a:endParaRPr lang="en-US" dirty="0"/>
          </a:p>
        </p:txBody>
      </p:sp>
      <p:sp>
        <p:nvSpPr>
          <p:cNvPr id="4" name="Slide Number Placeholder 3"/>
          <p:cNvSpPr>
            <a:spLocks noGrp="1"/>
          </p:cNvSpPr>
          <p:nvPr>
            <p:ph type="sldNum" sz="quarter" idx="5"/>
          </p:nvPr>
        </p:nvSpPr>
        <p:spPr/>
        <p:txBody>
          <a:bodyPr/>
          <a:lstStyle/>
          <a:p>
            <a:fld id="{BD339015-E69B-A147-93C7-94CD702798DB}" type="slidenum">
              <a:rPr lang="en-US" smtClean="0"/>
              <a:t>2</a:t>
            </a:fld>
            <a:endParaRPr lang="en-US"/>
          </a:p>
        </p:txBody>
      </p:sp>
    </p:spTree>
    <p:extLst>
      <p:ext uri="{BB962C8B-B14F-4D97-AF65-F5344CB8AC3E}">
        <p14:creationId xmlns:p14="http://schemas.microsoft.com/office/powerpoint/2010/main" val="3182213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Political satire indirect approach</a:t>
            </a:r>
          </a:p>
          <a:p>
            <a:r>
              <a:rPr lang="en-US" sz="1200" kern="1200" dirty="0">
                <a:solidFill>
                  <a:schemeClr val="tx1"/>
                </a:solidFill>
                <a:effectLst/>
                <a:latin typeface="+mn-lt"/>
                <a:ea typeface="+mn-ea"/>
                <a:cs typeface="+mn-cs"/>
              </a:rPr>
              <a:t>Humor irony and exaggeration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Embedding critique in entertainment.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Research paper explores the idea that political satire circumvents defensive barriers people put up due to reactance. Causing people to engage rather than resist</a:t>
            </a:r>
          </a:p>
          <a:p>
            <a:endParaRPr lang="en-US" dirty="0"/>
          </a:p>
        </p:txBody>
      </p:sp>
      <p:sp>
        <p:nvSpPr>
          <p:cNvPr id="4" name="Slide Number Placeholder 3"/>
          <p:cNvSpPr>
            <a:spLocks noGrp="1"/>
          </p:cNvSpPr>
          <p:nvPr>
            <p:ph type="sldNum" sz="quarter" idx="5"/>
          </p:nvPr>
        </p:nvSpPr>
        <p:spPr/>
        <p:txBody>
          <a:bodyPr/>
          <a:lstStyle/>
          <a:p>
            <a:fld id="{BD339015-E69B-A147-93C7-94CD702798DB}" type="slidenum">
              <a:rPr lang="en-US" smtClean="0"/>
              <a:t>3</a:t>
            </a:fld>
            <a:endParaRPr lang="en-US"/>
          </a:p>
        </p:txBody>
      </p:sp>
    </p:spTree>
    <p:extLst>
      <p:ext uri="{BB962C8B-B14F-4D97-AF65-F5344CB8AC3E}">
        <p14:creationId xmlns:p14="http://schemas.microsoft.com/office/powerpoint/2010/main" val="1909061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Comedy Duo Key and Peele have mastered this approach</a:t>
            </a:r>
          </a:p>
          <a:p>
            <a:endParaRPr lang="en-US" dirty="0"/>
          </a:p>
          <a:p>
            <a:r>
              <a:rPr lang="en-US" dirty="0"/>
              <a:t>set at an 1848 slave auction, the sketch follows enslaved men who initially resist being sold, but then desperately compete to be purchased when they see others being chosen.</a:t>
            </a:r>
          </a:p>
        </p:txBody>
      </p:sp>
      <p:sp>
        <p:nvSpPr>
          <p:cNvPr id="4" name="Slide Number Placeholder 3"/>
          <p:cNvSpPr>
            <a:spLocks noGrp="1"/>
          </p:cNvSpPr>
          <p:nvPr>
            <p:ph type="sldNum" sz="quarter" idx="5"/>
          </p:nvPr>
        </p:nvSpPr>
        <p:spPr/>
        <p:txBody>
          <a:bodyPr/>
          <a:lstStyle/>
          <a:p>
            <a:fld id="{BD339015-E69B-A147-93C7-94CD702798DB}" type="slidenum">
              <a:rPr lang="en-US" smtClean="0"/>
              <a:t>4</a:t>
            </a:fld>
            <a:endParaRPr lang="en-US"/>
          </a:p>
        </p:txBody>
      </p:sp>
    </p:spTree>
    <p:extLst>
      <p:ext uri="{BB962C8B-B14F-4D97-AF65-F5344CB8AC3E}">
        <p14:creationId xmlns:p14="http://schemas.microsoft.com/office/powerpoint/2010/main" val="2162129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Through Absurdity and Irony, Key and </a:t>
            </a:r>
            <a:r>
              <a:rPr lang="en-US" sz="1200" kern="1200" dirty="0" err="1">
                <a:solidFill>
                  <a:schemeClr val="tx1"/>
                </a:solidFill>
                <a:effectLst/>
                <a:latin typeface="+mn-lt"/>
                <a:ea typeface="+mn-ea"/>
                <a:cs typeface="+mn-cs"/>
              </a:rPr>
              <a:t>peele</a:t>
            </a:r>
            <a:r>
              <a:rPr lang="en-US" sz="1200" kern="1200" dirty="0">
                <a:solidFill>
                  <a:schemeClr val="tx1"/>
                </a:solidFill>
                <a:effectLst/>
                <a:latin typeface="+mn-lt"/>
                <a:ea typeface="+mn-ea"/>
                <a:cs typeface="+mn-cs"/>
              </a:rPr>
              <a:t> make the dehumanizing nature of slave auctions more approachable to a broader audience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Rather than lecturing about historical injustice, viewers confront the system’s moral contradictions themselves</a:t>
            </a:r>
          </a:p>
          <a:p>
            <a:endParaRPr lang="en-US" dirty="0"/>
          </a:p>
        </p:txBody>
      </p:sp>
      <p:sp>
        <p:nvSpPr>
          <p:cNvPr id="4" name="Slide Number Placeholder 3"/>
          <p:cNvSpPr>
            <a:spLocks noGrp="1"/>
          </p:cNvSpPr>
          <p:nvPr>
            <p:ph type="sldNum" sz="quarter" idx="5"/>
          </p:nvPr>
        </p:nvSpPr>
        <p:spPr/>
        <p:txBody>
          <a:bodyPr/>
          <a:lstStyle/>
          <a:p>
            <a:fld id="{BD339015-E69B-A147-93C7-94CD702798DB}" type="slidenum">
              <a:rPr lang="en-US" smtClean="0"/>
              <a:t>5</a:t>
            </a:fld>
            <a:endParaRPr lang="en-US"/>
          </a:p>
        </p:txBody>
      </p:sp>
    </p:spTree>
    <p:extLst>
      <p:ext uri="{BB962C8B-B14F-4D97-AF65-F5344CB8AC3E}">
        <p14:creationId xmlns:p14="http://schemas.microsoft.com/office/powerpoint/2010/main" val="2793406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worked!</a:t>
            </a:r>
          </a:p>
          <a:p>
            <a:endParaRPr lang="en-US" dirty="0"/>
          </a:p>
          <a:p>
            <a:endParaRPr lang="en-US" dirty="0"/>
          </a:p>
          <a:p>
            <a:r>
              <a:rPr lang="en-US" dirty="0"/>
              <a:t>Overwhelmingly positive reception</a:t>
            </a:r>
          </a:p>
        </p:txBody>
      </p:sp>
      <p:sp>
        <p:nvSpPr>
          <p:cNvPr id="4" name="Slide Number Placeholder 3"/>
          <p:cNvSpPr>
            <a:spLocks noGrp="1"/>
          </p:cNvSpPr>
          <p:nvPr>
            <p:ph type="sldNum" sz="quarter" idx="5"/>
          </p:nvPr>
        </p:nvSpPr>
        <p:spPr/>
        <p:txBody>
          <a:bodyPr/>
          <a:lstStyle/>
          <a:p>
            <a:fld id="{BD339015-E69B-A147-93C7-94CD702798DB}" type="slidenum">
              <a:rPr lang="en-US" smtClean="0"/>
              <a:t>6</a:t>
            </a:fld>
            <a:endParaRPr lang="en-US"/>
          </a:p>
        </p:txBody>
      </p:sp>
    </p:spTree>
    <p:extLst>
      <p:ext uri="{BB962C8B-B14F-4D97-AF65-F5344CB8AC3E}">
        <p14:creationId xmlns:p14="http://schemas.microsoft.com/office/powerpoint/2010/main" val="1986118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importantly</a:t>
            </a:r>
          </a:p>
          <a:p>
            <a:endParaRPr lang="en-US" dirty="0"/>
          </a:p>
          <a:p>
            <a:r>
              <a:rPr lang="en-US" dirty="0"/>
              <a:t>Viewers drew real world connections from the sketch</a:t>
            </a:r>
          </a:p>
          <a:p>
            <a:endParaRPr lang="en-US" dirty="0"/>
          </a:p>
          <a:p>
            <a:r>
              <a:rPr lang="en-US" dirty="0"/>
              <a:t>Most significant, viewers drew parallels to modern job interviews.</a:t>
            </a:r>
          </a:p>
          <a:p>
            <a:endParaRPr lang="en-US" dirty="0"/>
          </a:p>
        </p:txBody>
      </p:sp>
      <p:sp>
        <p:nvSpPr>
          <p:cNvPr id="4" name="Slide Number Placeholder 3"/>
          <p:cNvSpPr>
            <a:spLocks noGrp="1"/>
          </p:cNvSpPr>
          <p:nvPr>
            <p:ph type="sldNum" sz="quarter" idx="5"/>
          </p:nvPr>
        </p:nvSpPr>
        <p:spPr/>
        <p:txBody>
          <a:bodyPr/>
          <a:lstStyle/>
          <a:p>
            <a:fld id="{BD339015-E69B-A147-93C7-94CD702798DB}" type="slidenum">
              <a:rPr lang="en-US" smtClean="0"/>
              <a:t>7</a:t>
            </a:fld>
            <a:endParaRPr lang="en-US"/>
          </a:p>
        </p:txBody>
      </p:sp>
    </p:spTree>
    <p:extLst>
      <p:ext uri="{BB962C8B-B14F-4D97-AF65-F5344CB8AC3E}">
        <p14:creationId xmlns:p14="http://schemas.microsoft.com/office/powerpoint/2010/main" val="570344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reactance theory in action</a:t>
            </a:r>
          </a:p>
          <a:p>
            <a:endParaRPr lang="en-US" dirty="0"/>
          </a:p>
          <a:p>
            <a:r>
              <a:rPr lang="en-US" dirty="0"/>
              <a:t>Sketch didn’t tell viewers that modern capitalism could be dehumanizing.</a:t>
            </a:r>
          </a:p>
          <a:p>
            <a:endParaRPr lang="en-US" dirty="0"/>
          </a:p>
          <a:p>
            <a:r>
              <a:rPr lang="en-US" dirty="0"/>
              <a:t>Viewers made the connection themselves, in their own words, without defensive resistance. </a:t>
            </a:r>
          </a:p>
          <a:p>
            <a:endParaRPr lang="en-US" dirty="0"/>
          </a:p>
          <a:p>
            <a:r>
              <a:rPr lang="en-US" dirty="0"/>
              <a:t>Proves the effectiveness of indirect activism</a:t>
            </a:r>
          </a:p>
        </p:txBody>
      </p:sp>
      <p:sp>
        <p:nvSpPr>
          <p:cNvPr id="4" name="Slide Number Placeholder 3"/>
          <p:cNvSpPr>
            <a:spLocks noGrp="1"/>
          </p:cNvSpPr>
          <p:nvPr>
            <p:ph type="sldNum" sz="quarter" idx="5"/>
          </p:nvPr>
        </p:nvSpPr>
        <p:spPr/>
        <p:txBody>
          <a:bodyPr/>
          <a:lstStyle/>
          <a:p>
            <a:fld id="{BD339015-E69B-A147-93C7-94CD702798DB}" type="slidenum">
              <a:rPr lang="en-US" smtClean="0"/>
              <a:t>8</a:t>
            </a:fld>
            <a:endParaRPr lang="en-US"/>
          </a:p>
        </p:txBody>
      </p:sp>
    </p:spTree>
    <p:extLst>
      <p:ext uri="{BB962C8B-B14F-4D97-AF65-F5344CB8AC3E}">
        <p14:creationId xmlns:p14="http://schemas.microsoft.com/office/powerpoint/2010/main" val="2944369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content nothing without reach</a:t>
            </a:r>
          </a:p>
          <a:p>
            <a:endParaRPr lang="en-US" dirty="0"/>
          </a:p>
          <a:p>
            <a:r>
              <a:rPr lang="en-US" dirty="0"/>
              <a:t>Format an highly effective distribution channel</a:t>
            </a:r>
          </a:p>
          <a:p>
            <a:endParaRPr lang="en-US" dirty="0"/>
          </a:p>
          <a:p>
            <a:r>
              <a:rPr lang="en-US" dirty="0"/>
              <a:t>Using the STEPPS Framework</a:t>
            </a:r>
          </a:p>
          <a:p>
            <a:endParaRPr lang="en-US" dirty="0"/>
          </a:p>
          <a:p>
            <a:r>
              <a:rPr lang="en-US" dirty="0"/>
              <a:t>An explanation why </a:t>
            </a:r>
            <a:r>
              <a:rPr lang="en-US" dirty="0" err="1"/>
              <a:t>Auctionblock</a:t>
            </a:r>
            <a:r>
              <a:rPr lang="en-US" dirty="0"/>
              <a:t> achieved 70+ million views</a:t>
            </a:r>
          </a:p>
          <a:p>
            <a:endParaRPr lang="en-US" dirty="0"/>
          </a:p>
          <a:p>
            <a:r>
              <a:rPr lang="en-US" dirty="0"/>
              <a:t>What truly matters is what happens after the content spreads</a:t>
            </a:r>
          </a:p>
        </p:txBody>
      </p:sp>
      <p:sp>
        <p:nvSpPr>
          <p:cNvPr id="4" name="Slide Number Placeholder 3"/>
          <p:cNvSpPr>
            <a:spLocks noGrp="1"/>
          </p:cNvSpPr>
          <p:nvPr>
            <p:ph type="sldNum" sz="quarter" idx="5"/>
          </p:nvPr>
        </p:nvSpPr>
        <p:spPr/>
        <p:txBody>
          <a:bodyPr/>
          <a:lstStyle/>
          <a:p>
            <a:fld id="{BD339015-E69B-A147-93C7-94CD702798DB}" type="slidenum">
              <a:rPr lang="en-US" smtClean="0"/>
              <a:t>9</a:t>
            </a:fld>
            <a:endParaRPr lang="en-US"/>
          </a:p>
        </p:txBody>
      </p:sp>
    </p:spTree>
    <p:extLst>
      <p:ext uri="{BB962C8B-B14F-4D97-AF65-F5344CB8AC3E}">
        <p14:creationId xmlns:p14="http://schemas.microsoft.com/office/powerpoint/2010/main" val="3039242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Virality sparked genuine critical public discourse</a:t>
            </a:r>
          </a:p>
          <a:p>
            <a:endParaRPr lang="en-US" dirty="0"/>
          </a:p>
          <a:p>
            <a:r>
              <a:rPr lang="en-US" dirty="0"/>
              <a:t>Reddit host debates about:</a:t>
            </a:r>
          </a:p>
          <a:p>
            <a:r>
              <a:rPr lang="en-US" dirty="0"/>
              <a:t>Whether satire dismantles stereotypes or inadvertently reinforces them</a:t>
            </a:r>
          </a:p>
          <a:p>
            <a:r>
              <a:rPr lang="en-US" dirty="0"/>
              <a:t>Educational discussions about  race, power, and representation.</a:t>
            </a:r>
          </a:p>
          <a:p>
            <a:endParaRPr lang="en-US" dirty="0"/>
          </a:p>
          <a:p>
            <a:r>
              <a:rPr lang="en-US" dirty="0"/>
              <a:t>Conversations enhance critical thinking and collective understanding</a:t>
            </a:r>
          </a:p>
          <a:p>
            <a:endParaRPr lang="en-US" dirty="0"/>
          </a:p>
          <a:p>
            <a:r>
              <a:rPr lang="en-US" dirty="0"/>
              <a:t>moving viewers from Passive consumption to active reflection </a:t>
            </a:r>
            <a:r>
              <a:rPr lang="en-US" dirty="0">
                <a:sym typeface="Wingdings" pitchFamily="2" charset="2"/>
              </a:rPr>
              <a:t> virality to actual social change</a:t>
            </a:r>
            <a:endParaRPr lang="en-US" dirty="0"/>
          </a:p>
        </p:txBody>
      </p:sp>
      <p:sp>
        <p:nvSpPr>
          <p:cNvPr id="4" name="Slide Number Placeholder 3"/>
          <p:cNvSpPr>
            <a:spLocks noGrp="1"/>
          </p:cNvSpPr>
          <p:nvPr>
            <p:ph type="sldNum" sz="quarter" idx="5"/>
          </p:nvPr>
        </p:nvSpPr>
        <p:spPr/>
        <p:txBody>
          <a:bodyPr/>
          <a:lstStyle/>
          <a:p>
            <a:fld id="{BD339015-E69B-A147-93C7-94CD702798DB}" type="slidenum">
              <a:rPr lang="en-US" smtClean="0"/>
              <a:t>10</a:t>
            </a:fld>
            <a:endParaRPr lang="en-US"/>
          </a:p>
        </p:txBody>
      </p:sp>
    </p:spTree>
    <p:extLst>
      <p:ext uri="{BB962C8B-B14F-4D97-AF65-F5344CB8AC3E}">
        <p14:creationId xmlns:p14="http://schemas.microsoft.com/office/powerpoint/2010/main" val="3707457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works at the highest echelons of power.</a:t>
            </a:r>
          </a:p>
          <a:p>
            <a:endParaRPr lang="en-US" dirty="0"/>
          </a:p>
          <a:p>
            <a:r>
              <a:rPr lang="en-US" dirty="0"/>
              <a:t>Peabody Award in 2014: </a:t>
            </a:r>
          </a:p>
          <a:p>
            <a:r>
              <a:rPr lang="en-US" dirty="0"/>
              <a:t>Prestigious reward given to </a:t>
            </a:r>
            <a:r>
              <a:rPr lang="en-US" dirty="0" err="1"/>
              <a:t>influencial</a:t>
            </a:r>
            <a:r>
              <a:rPr lang="en-US" dirty="0"/>
              <a:t> social commentators</a:t>
            </a:r>
          </a:p>
          <a:p>
            <a:endParaRPr lang="en-US" dirty="0"/>
          </a:p>
          <a:p>
            <a:r>
              <a:rPr lang="en-US" dirty="0"/>
              <a:t>Most remarkably:</a:t>
            </a:r>
          </a:p>
          <a:p>
            <a:r>
              <a:rPr lang="en-US" dirty="0"/>
              <a:t>President Obama validated their satire by participating in Anger Translator routine at the White House Correspondents’ Dinner</a:t>
            </a:r>
          </a:p>
          <a:p>
            <a:endParaRPr lang="en-US" dirty="0"/>
          </a:p>
          <a:p>
            <a:r>
              <a:rPr lang="en-US" dirty="0"/>
              <a:t>Praised by critics, embraced by the very power structures they satirized.</a:t>
            </a:r>
          </a:p>
          <a:p>
            <a:endParaRPr lang="en-US" dirty="0"/>
          </a:p>
          <a:p>
            <a:r>
              <a:rPr lang="en-US" dirty="0"/>
              <a:t>Political Satire is not just entertainment: its recognized as legitimate social commentary, even by the highest powers in the world</a:t>
            </a:r>
          </a:p>
          <a:p>
            <a:endParaRPr lang="en-US" dirty="0"/>
          </a:p>
          <a:p>
            <a:r>
              <a:rPr lang="en-US" dirty="0"/>
              <a:t>In our polarized digital age, Key &amp; Peele have shown us that the most effective activism may not be the most direct. By lowering defenses, sparking discourse, and achieving cultural recognition, political satire has emerged as a vital tool for 21st-century social change. Sometimes, the best way to make people think isn't to tell them what to think—it's to make them laugh and let them reach the conclusions themselves.</a:t>
            </a:r>
          </a:p>
          <a:p>
            <a:endParaRPr lang="en-US" dirty="0"/>
          </a:p>
          <a:p>
            <a:endParaRPr lang="en-US" dirty="0"/>
          </a:p>
        </p:txBody>
      </p:sp>
      <p:sp>
        <p:nvSpPr>
          <p:cNvPr id="4" name="Slide Number Placeholder 3"/>
          <p:cNvSpPr>
            <a:spLocks noGrp="1"/>
          </p:cNvSpPr>
          <p:nvPr>
            <p:ph type="sldNum" sz="quarter" idx="5"/>
          </p:nvPr>
        </p:nvSpPr>
        <p:spPr/>
        <p:txBody>
          <a:bodyPr/>
          <a:lstStyle/>
          <a:p>
            <a:fld id="{BD339015-E69B-A147-93C7-94CD702798DB}" type="slidenum">
              <a:rPr lang="en-US" smtClean="0"/>
              <a:t>11</a:t>
            </a:fld>
            <a:endParaRPr lang="en-US"/>
          </a:p>
        </p:txBody>
      </p:sp>
    </p:spTree>
    <p:extLst>
      <p:ext uri="{BB962C8B-B14F-4D97-AF65-F5344CB8AC3E}">
        <p14:creationId xmlns:p14="http://schemas.microsoft.com/office/powerpoint/2010/main" val="1363443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37DDF-E136-BECE-8149-71226DACF4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6785DC-6E7C-2C5C-0C15-8E7EF38D05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6A3DB8-200E-2A66-54AA-836391DAFECE}"/>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5" name="Footer Placeholder 4">
            <a:extLst>
              <a:ext uri="{FF2B5EF4-FFF2-40B4-BE49-F238E27FC236}">
                <a16:creationId xmlns:a16="http://schemas.microsoft.com/office/drawing/2014/main" id="{EF76EA90-7D9A-9FB6-3070-0E948F5C3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DC66-51DC-162A-E701-2056BAE5874A}"/>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2056655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996A2-15F0-78A3-D148-B8FF461338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346D21-151F-0D01-29F3-559607DA3F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8AF4EC-1D5F-50D6-E517-60D0F6E50ABD}"/>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5" name="Footer Placeholder 4">
            <a:extLst>
              <a:ext uri="{FF2B5EF4-FFF2-40B4-BE49-F238E27FC236}">
                <a16:creationId xmlns:a16="http://schemas.microsoft.com/office/drawing/2014/main" id="{155D8F73-8A23-5F80-C0D1-912A81F75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00B1E-6622-784C-FCC8-B0D229D6908C}"/>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2808427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F8156-FBCE-72D6-08B0-05C1E53937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A9E3DF-7286-5C24-A522-D59048963E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FC281A-E3D8-9128-2397-B2D346B63D8E}"/>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5" name="Footer Placeholder 4">
            <a:extLst>
              <a:ext uri="{FF2B5EF4-FFF2-40B4-BE49-F238E27FC236}">
                <a16:creationId xmlns:a16="http://schemas.microsoft.com/office/drawing/2014/main" id="{FCFF4FD9-60CD-C930-1380-586473E003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E5DF6A-3C81-23E6-87E7-8ACDAE151C62}"/>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2967031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CA2AC-EE4D-C348-6FBE-86BAB1FAC2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23D6AA-DB77-C198-6F13-2E9289C764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B4C7-D182-E537-27D3-C4BB7150F0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4AB136-C0D7-9606-0353-244DF019D7B5}"/>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6" name="Footer Placeholder 5">
            <a:extLst>
              <a:ext uri="{FF2B5EF4-FFF2-40B4-BE49-F238E27FC236}">
                <a16:creationId xmlns:a16="http://schemas.microsoft.com/office/drawing/2014/main" id="{69D780EF-33B9-F78A-ECFE-33542B7693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3BEFD6-10DF-4B23-E84D-75ACDBC10E91}"/>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3001082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6DE8-077B-B791-8D20-6F48C2B5AB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DFD37C-C14D-2EC2-83C4-866F6F7AC5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F4C26E-EE9A-5644-C267-0A2A17A488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3DAC3C-939A-2AD5-BA62-0C4717E8F0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44F1BC-1DA7-D367-3996-6B90398877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60626C-8E70-207C-8A4E-FEBD11C59847}"/>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8" name="Footer Placeholder 7">
            <a:extLst>
              <a:ext uri="{FF2B5EF4-FFF2-40B4-BE49-F238E27FC236}">
                <a16:creationId xmlns:a16="http://schemas.microsoft.com/office/drawing/2014/main" id="{913B6892-679D-83A8-B41C-F09492D90C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10BE85-4928-1E4F-3132-3A1386E7DCC7}"/>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825625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050F6-757A-9EC0-3791-24FDDD0A57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BBAF2F-80C8-6BA4-8171-3A2199BAD693}"/>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4" name="Footer Placeholder 3">
            <a:extLst>
              <a:ext uri="{FF2B5EF4-FFF2-40B4-BE49-F238E27FC236}">
                <a16:creationId xmlns:a16="http://schemas.microsoft.com/office/drawing/2014/main" id="{3E7F4984-63AE-B386-1AD1-916A2BF968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6B517E-A7F6-B0E2-5C7F-13E939B5A8D4}"/>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14062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E8232F-B3F0-C06F-84A0-7C418470A636}"/>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3" name="Footer Placeholder 2">
            <a:extLst>
              <a:ext uri="{FF2B5EF4-FFF2-40B4-BE49-F238E27FC236}">
                <a16:creationId xmlns:a16="http://schemas.microsoft.com/office/drawing/2014/main" id="{5F7CC281-10DF-7CD5-DE42-4E0BC0BA6A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CAD616-3C02-6D37-6C54-BB271E58167D}"/>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984698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49F95-ED49-31CB-7C3A-85C98075E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0B5B8A-E88B-7386-64E6-6A2AE56247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02B605-A0CB-7E05-6589-0D3CAEF63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8D19CC-04E4-723A-8FB5-36E279672545}"/>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6" name="Footer Placeholder 5">
            <a:extLst>
              <a:ext uri="{FF2B5EF4-FFF2-40B4-BE49-F238E27FC236}">
                <a16:creationId xmlns:a16="http://schemas.microsoft.com/office/drawing/2014/main" id="{A539F146-328C-423C-4FC7-3AA72EA772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28899-CE3D-7F5A-4389-2CB0B843FED1}"/>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400501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75CF5-D1AC-2770-2008-1BBCB3C06B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8D0CE3-C14F-CD6E-16CF-E3A7B661C4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B9224E-D0BD-1CE7-8927-987D4AECF2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BCF0C-1E30-D5DB-FACF-C1FD5DA20898}"/>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6" name="Footer Placeholder 5">
            <a:extLst>
              <a:ext uri="{FF2B5EF4-FFF2-40B4-BE49-F238E27FC236}">
                <a16:creationId xmlns:a16="http://schemas.microsoft.com/office/drawing/2014/main" id="{5533F9E4-983B-F5D8-BB48-DA532CF70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DEAD27-741A-E30F-68B3-E72BFB2D4322}"/>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3413545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8D3AD-8A06-1587-513F-0E0758C2B9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29AFFB-BC27-E5AE-AFB5-160D598FE5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EA3670-0C4D-7D45-7C89-588A7FFB2B6E}"/>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5" name="Footer Placeholder 4">
            <a:extLst>
              <a:ext uri="{FF2B5EF4-FFF2-40B4-BE49-F238E27FC236}">
                <a16:creationId xmlns:a16="http://schemas.microsoft.com/office/drawing/2014/main" id="{0BFE5D6B-5815-3075-79F0-45CC21F8C1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2878C6-C166-BD82-8677-C109301289C9}"/>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4205460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0D3679-1757-F92E-7F83-097B0E386B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7C6198-518F-492C-5FDF-BEBA932560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2EDB7A-CC41-20C5-768E-0B20599CF092}"/>
              </a:ext>
            </a:extLst>
          </p:cNvPr>
          <p:cNvSpPr>
            <a:spLocks noGrp="1"/>
          </p:cNvSpPr>
          <p:nvPr>
            <p:ph type="dt" sz="half" idx="10"/>
          </p:nvPr>
        </p:nvSpPr>
        <p:spPr/>
        <p:txBody>
          <a:bodyPr/>
          <a:lstStyle/>
          <a:p>
            <a:fld id="{0D33CEFD-40AB-EB4A-9B2E-5CDECFF9F46B}" type="datetimeFigureOut">
              <a:rPr lang="en-US" smtClean="0"/>
              <a:t>1/15/26</a:t>
            </a:fld>
            <a:endParaRPr lang="en-US"/>
          </a:p>
        </p:txBody>
      </p:sp>
      <p:sp>
        <p:nvSpPr>
          <p:cNvPr id="5" name="Footer Placeholder 4">
            <a:extLst>
              <a:ext uri="{FF2B5EF4-FFF2-40B4-BE49-F238E27FC236}">
                <a16:creationId xmlns:a16="http://schemas.microsoft.com/office/drawing/2014/main" id="{42A777E3-0A0E-7CA9-9C78-901D84DB3E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23DC00-BE18-9F64-7F01-72DBEB53EFEA}"/>
              </a:ext>
            </a:extLst>
          </p:cNvPr>
          <p:cNvSpPr>
            <a:spLocks noGrp="1"/>
          </p:cNvSpPr>
          <p:nvPr>
            <p:ph type="sldNum" sz="quarter" idx="12"/>
          </p:nvPr>
        </p:nvSpPr>
        <p:spPr/>
        <p:txBody>
          <a:bodyPr/>
          <a:lstStyle/>
          <a:p>
            <a:fld id="{17802171-116D-A74D-9E76-5669989B8101}" type="slidenum">
              <a:rPr lang="en-US" smtClean="0"/>
              <a:t>‹#›</a:t>
            </a:fld>
            <a:endParaRPr lang="en-US"/>
          </a:p>
        </p:txBody>
      </p:sp>
    </p:spTree>
    <p:extLst>
      <p:ext uri="{BB962C8B-B14F-4D97-AF65-F5344CB8AC3E}">
        <p14:creationId xmlns:p14="http://schemas.microsoft.com/office/powerpoint/2010/main" val="12529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1B2287-274C-3E94-5F7C-9AE0314230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1F3AD0-DF50-6D12-77DB-78031A0144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392359-BA85-98B1-FAB5-B4068C85EE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33CEFD-40AB-EB4A-9B2E-5CDECFF9F46B}" type="datetimeFigureOut">
              <a:rPr lang="en-US" smtClean="0"/>
              <a:t>1/15/26</a:t>
            </a:fld>
            <a:endParaRPr lang="en-US"/>
          </a:p>
        </p:txBody>
      </p:sp>
      <p:sp>
        <p:nvSpPr>
          <p:cNvPr id="5" name="Footer Placeholder 4">
            <a:extLst>
              <a:ext uri="{FF2B5EF4-FFF2-40B4-BE49-F238E27FC236}">
                <a16:creationId xmlns:a16="http://schemas.microsoft.com/office/drawing/2014/main" id="{27C4781D-B080-8DCD-E3DE-9B61BDEE6D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DA4650-6570-1CB1-0FE3-BFE7C9AF12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802171-116D-A74D-9E76-5669989B8101}" type="slidenum">
              <a:rPr lang="en-US" smtClean="0"/>
              <a:t>‹#›</a:t>
            </a:fld>
            <a:endParaRPr lang="en-US"/>
          </a:p>
        </p:txBody>
      </p:sp>
    </p:spTree>
    <p:extLst>
      <p:ext uri="{BB962C8B-B14F-4D97-AF65-F5344CB8AC3E}">
        <p14:creationId xmlns:p14="http://schemas.microsoft.com/office/powerpoint/2010/main" val="394829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E19FA-0EF2-5F57-3582-6EDC9845ABC2}"/>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00B87D45-A225-9624-CB06-7F20B42B6C63}"/>
              </a:ext>
            </a:extLst>
          </p:cNvPr>
          <p:cNvSpPr/>
          <p:nvPr/>
        </p:nvSpPr>
        <p:spPr>
          <a:xfrm>
            <a:off x="-5257718" y="660471"/>
            <a:ext cx="3467100" cy="5537057"/>
          </a:xfrm>
          <a:prstGeom prst="roundRect">
            <a:avLst/>
          </a:prstGeom>
          <a:blipFill dpi="0" rotWithShape="1">
            <a:blip r:embed="rId3">
              <a:alphaModFix amt="45206"/>
            </a:blip>
            <a:srcRect/>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Navigating Social and Political Polarization: Strategies for Understanding  and Unity — Meridian Counseling">
            <a:extLst>
              <a:ext uri="{FF2B5EF4-FFF2-40B4-BE49-F238E27FC236}">
                <a16:creationId xmlns:a16="http://schemas.microsoft.com/office/drawing/2014/main" id="{53D885C4-8258-21D6-1646-D7AE8E77CB94}"/>
              </a:ext>
            </a:extLst>
          </p:cNvPr>
          <p:cNvPicPr>
            <a:picLocks noChangeAspect="1"/>
          </p:cNvPicPr>
          <p:nvPr/>
        </p:nvPicPr>
        <p:blipFill>
          <a:blip r:embed="rId4"/>
          <a:stretch>
            <a:fillRect/>
          </a:stretch>
        </p:blipFill>
        <p:spPr>
          <a:xfrm>
            <a:off x="2209800" y="660471"/>
            <a:ext cx="7772400" cy="5537057"/>
          </a:xfrm>
          <a:prstGeom prst="rect">
            <a:avLst/>
          </a:prstGeom>
        </p:spPr>
      </p:pic>
      <p:sp>
        <p:nvSpPr>
          <p:cNvPr id="4" name="TextBox 3">
            <a:extLst>
              <a:ext uri="{FF2B5EF4-FFF2-40B4-BE49-F238E27FC236}">
                <a16:creationId xmlns:a16="http://schemas.microsoft.com/office/drawing/2014/main" id="{E2161DBF-C855-DABC-BA9A-7025582AFBF4}"/>
              </a:ext>
            </a:extLst>
          </p:cNvPr>
          <p:cNvSpPr txBox="1"/>
          <p:nvPr/>
        </p:nvSpPr>
        <p:spPr>
          <a:xfrm>
            <a:off x="-4898091" y="1092200"/>
            <a:ext cx="2971800" cy="2031325"/>
          </a:xfrm>
          <a:prstGeom prst="rect">
            <a:avLst/>
          </a:prstGeom>
          <a:noFill/>
        </p:spPr>
        <p:txBody>
          <a:bodyPr wrap="square" rtlCol="0">
            <a:spAutoFit/>
          </a:bodyPr>
          <a:lstStyle/>
          <a:p>
            <a:r>
              <a:rPr lang="en-US" b="1" dirty="0"/>
              <a:t>Traditional Activism:</a:t>
            </a:r>
          </a:p>
          <a:p>
            <a:pPr marL="285750" indent="-285750">
              <a:buFont typeface="Arial" panose="020B0604020202020204" pitchFamily="34" charset="0"/>
              <a:buChar char="•"/>
            </a:pPr>
            <a:r>
              <a:rPr lang="en-US" dirty="0"/>
              <a:t>Protests</a:t>
            </a:r>
          </a:p>
          <a:p>
            <a:pPr marL="285750" indent="-285750">
              <a:buFont typeface="Arial" panose="020B0604020202020204" pitchFamily="34" charset="0"/>
              <a:buChar char="•"/>
            </a:pPr>
            <a:r>
              <a:rPr lang="en-US" dirty="0"/>
              <a:t>Civil disobedience</a:t>
            </a:r>
          </a:p>
          <a:p>
            <a:pPr marL="285750" indent="-285750">
              <a:buFont typeface="Arial" panose="020B0604020202020204" pitchFamily="34" charset="0"/>
              <a:buChar char="•"/>
            </a:pPr>
            <a:r>
              <a:rPr lang="en-US" dirty="0"/>
              <a:t>Public Demonstrations</a:t>
            </a:r>
          </a:p>
          <a:p>
            <a:pPr marL="285750" indent="-285750">
              <a:buFont typeface="Arial" panose="020B0604020202020204" pitchFamily="34" charset="0"/>
              <a:buChar char="•"/>
            </a:pPr>
            <a:endParaRPr lang="en-US" dirty="0"/>
          </a:p>
          <a:p>
            <a:r>
              <a:rPr lang="en-US" b="1" dirty="0"/>
              <a:t>Problem: </a:t>
            </a:r>
            <a:r>
              <a:rPr lang="en-US" dirty="0"/>
              <a:t>Increasingly polarized society</a:t>
            </a:r>
            <a:endParaRPr lang="en-US" b="1" dirty="0"/>
          </a:p>
        </p:txBody>
      </p:sp>
    </p:spTree>
    <p:extLst>
      <p:ext uri="{BB962C8B-B14F-4D97-AF65-F5344CB8AC3E}">
        <p14:creationId xmlns:p14="http://schemas.microsoft.com/office/powerpoint/2010/main" val="4272005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43A26-112C-4B56-5332-80800654658E}"/>
            </a:ext>
          </a:extLst>
        </p:cNvPr>
        <p:cNvGrpSpPr/>
        <p:nvPr/>
      </p:nvGrpSpPr>
      <p:grpSpPr>
        <a:xfrm>
          <a:off x="0" y="0"/>
          <a:ext cx="0" cy="0"/>
          <a:chOff x="0" y="0"/>
          <a:chExt cx="0" cy="0"/>
        </a:xfrm>
      </p:grpSpPr>
      <p:pic>
        <p:nvPicPr>
          <p:cNvPr id="3" name="Picture 2" descr="Navigating Social and Political Polarization: Strategies for Understanding  and Unity — Meridian Counseling">
            <a:extLst>
              <a:ext uri="{FF2B5EF4-FFF2-40B4-BE49-F238E27FC236}">
                <a16:creationId xmlns:a16="http://schemas.microsoft.com/office/drawing/2014/main" id="{FF71FE32-8222-B3F3-D816-318823ADA1A3}"/>
              </a:ext>
            </a:extLst>
          </p:cNvPr>
          <p:cNvPicPr>
            <a:picLocks noChangeAspect="1"/>
          </p:cNvPicPr>
          <p:nvPr/>
        </p:nvPicPr>
        <p:blipFill>
          <a:blip r:embed="rId3"/>
          <a:stretch>
            <a:fillRect/>
          </a:stretch>
        </p:blipFill>
        <p:spPr>
          <a:xfrm>
            <a:off x="3797300" y="660471"/>
            <a:ext cx="7772400" cy="5537057"/>
          </a:xfrm>
          <a:prstGeom prst="rect">
            <a:avLst/>
          </a:prstGeom>
        </p:spPr>
      </p:pic>
      <p:sp>
        <p:nvSpPr>
          <p:cNvPr id="2" name="Rounded Rectangle 1">
            <a:extLst>
              <a:ext uri="{FF2B5EF4-FFF2-40B4-BE49-F238E27FC236}">
                <a16:creationId xmlns:a16="http://schemas.microsoft.com/office/drawing/2014/main" id="{C5AC5582-859E-430B-BA74-5AA9FD5C2246}"/>
              </a:ext>
            </a:extLst>
          </p:cNvPr>
          <p:cNvSpPr/>
          <p:nvPr/>
        </p:nvSpPr>
        <p:spPr>
          <a:xfrm>
            <a:off x="152400" y="660471"/>
            <a:ext cx="3467100" cy="5537057"/>
          </a:xfrm>
          <a:prstGeom prst="roundRect">
            <a:avLst/>
          </a:prstGeom>
          <a:blipFill dpi="0" rotWithShape="1">
            <a:blip r:embed="rId4">
              <a:alphaModFix amt="45206"/>
            </a:blip>
            <a:srcRect/>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54621DF-DE68-730D-7982-45F7B08E909D}"/>
              </a:ext>
            </a:extLst>
          </p:cNvPr>
          <p:cNvSpPr txBox="1"/>
          <p:nvPr/>
        </p:nvSpPr>
        <p:spPr>
          <a:xfrm>
            <a:off x="400050" y="1092200"/>
            <a:ext cx="2971800" cy="2031325"/>
          </a:xfrm>
          <a:prstGeom prst="rect">
            <a:avLst/>
          </a:prstGeom>
          <a:noFill/>
        </p:spPr>
        <p:txBody>
          <a:bodyPr wrap="square" rtlCol="0">
            <a:spAutoFit/>
          </a:bodyPr>
          <a:lstStyle/>
          <a:p>
            <a:r>
              <a:rPr lang="en-US" b="1" dirty="0"/>
              <a:t>Traditional Activism:</a:t>
            </a:r>
          </a:p>
          <a:p>
            <a:pPr marL="285750" indent="-285750">
              <a:buFont typeface="Arial" panose="020B0604020202020204" pitchFamily="34" charset="0"/>
              <a:buChar char="•"/>
            </a:pPr>
            <a:r>
              <a:rPr lang="en-US" dirty="0"/>
              <a:t>Protests</a:t>
            </a:r>
          </a:p>
          <a:p>
            <a:pPr marL="285750" indent="-285750">
              <a:buFont typeface="Arial" panose="020B0604020202020204" pitchFamily="34" charset="0"/>
              <a:buChar char="•"/>
            </a:pPr>
            <a:r>
              <a:rPr lang="en-US" dirty="0"/>
              <a:t>Civil disobedience</a:t>
            </a:r>
          </a:p>
          <a:p>
            <a:pPr marL="285750" indent="-285750">
              <a:buFont typeface="Arial" panose="020B0604020202020204" pitchFamily="34" charset="0"/>
              <a:buChar char="•"/>
            </a:pPr>
            <a:r>
              <a:rPr lang="en-US" dirty="0"/>
              <a:t>Public Demonstrations</a:t>
            </a:r>
          </a:p>
          <a:p>
            <a:pPr marL="285750" indent="-285750">
              <a:buFont typeface="Arial" panose="020B0604020202020204" pitchFamily="34" charset="0"/>
              <a:buChar char="•"/>
            </a:pPr>
            <a:endParaRPr lang="en-US" dirty="0"/>
          </a:p>
          <a:p>
            <a:r>
              <a:rPr lang="en-US" b="1" dirty="0"/>
              <a:t>Problem: </a:t>
            </a:r>
            <a:r>
              <a:rPr lang="en-US" dirty="0"/>
              <a:t>Increasingly polarized society</a:t>
            </a:r>
            <a:endParaRPr lang="en-US" b="1" dirty="0"/>
          </a:p>
        </p:txBody>
      </p:sp>
    </p:spTree>
    <p:extLst>
      <p:ext uri="{BB962C8B-B14F-4D97-AF65-F5344CB8AC3E}">
        <p14:creationId xmlns:p14="http://schemas.microsoft.com/office/powerpoint/2010/main" val="29452296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3171"/>
            <a:lum/>
          </a:blip>
          <a:srcRect/>
          <a:stretch>
            <a:fillRect t="-13000" b="-13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877098-BA40-D47F-271D-B53AA046FDA3}"/>
              </a:ext>
            </a:extLst>
          </p:cNvPr>
          <p:cNvSpPr txBox="1"/>
          <p:nvPr/>
        </p:nvSpPr>
        <p:spPr>
          <a:xfrm>
            <a:off x="2793625" y="457200"/>
            <a:ext cx="6604748" cy="707886"/>
          </a:xfrm>
          <a:prstGeom prst="rect">
            <a:avLst/>
          </a:prstGeom>
          <a:noFill/>
        </p:spPr>
        <p:txBody>
          <a:bodyPr wrap="square" rtlCol="0">
            <a:spAutoFit/>
          </a:bodyPr>
          <a:lstStyle/>
          <a:p>
            <a:r>
              <a:rPr lang="en-US" sz="4000" b="1" dirty="0"/>
              <a:t>Political Satire as a solution</a:t>
            </a:r>
          </a:p>
        </p:txBody>
      </p:sp>
      <p:sp>
        <p:nvSpPr>
          <p:cNvPr id="3" name="Left-Right Arrow 2">
            <a:extLst>
              <a:ext uri="{FF2B5EF4-FFF2-40B4-BE49-F238E27FC236}">
                <a16:creationId xmlns:a16="http://schemas.microsoft.com/office/drawing/2014/main" id="{EA727E98-8321-DEB3-7E03-440F6B9C409D}"/>
              </a:ext>
            </a:extLst>
          </p:cNvPr>
          <p:cNvSpPr/>
          <p:nvPr/>
        </p:nvSpPr>
        <p:spPr>
          <a:xfrm>
            <a:off x="3583080" y="2097739"/>
            <a:ext cx="5025839" cy="266251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49141D3-3A3D-6CE5-7B28-7CDC1F3FBABD}"/>
              </a:ext>
            </a:extLst>
          </p:cNvPr>
          <p:cNvSpPr txBox="1"/>
          <p:nvPr/>
        </p:nvSpPr>
        <p:spPr>
          <a:xfrm>
            <a:off x="603998" y="2737570"/>
            <a:ext cx="2613209" cy="1323439"/>
          </a:xfrm>
          <a:prstGeom prst="rect">
            <a:avLst/>
          </a:prstGeom>
          <a:noFill/>
        </p:spPr>
        <p:txBody>
          <a:bodyPr wrap="square" rtlCol="0">
            <a:spAutoFit/>
          </a:bodyPr>
          <a:lstStyle/>
          <a:p>
            <a:r>
              <a:rPr lang="en-US" sz="4000" b="1" dirty="0"/>
              <a:t>Direct Approach</a:t>
            </a:r>
          </a:p>
        </p:txBody>
      </p:sp>
      <p:sp>
        <p:nvSpPr>
          <p:cNvPr id="5" name="TextBox 4">
            <a:extLst>
              <a:ext uri="{FF2B5EF4-FFF2-40B4-BE49-F238E27FC236}">
                <a16:creationId xmlns:a16="http://schemas.microsoft.com/office/drawing/2014/main" id="{7E3DC432-9D48-A480-F3ED-8299BDDD9D36}"/>
              </a:ext>
            </a:extLst>
          </p:cNvPr>
          <p:cNvSpPr txBox="1"/>
          <p:nvPr/>
        </p:nvSpPr>
        <p:spPr>
          <a:xfrm>
            <a:off x="8974792" y="2767279"/>
            <a:ext cx="2468655" cy="1323439"/>
          </a:xfrm>
          <a:prstGeom prst="rect">
            <a:avLst/>
          </a:prstGeom>
          <a:noFill/>
        </p:spPr>
        <p:txBody>
          <a:bodyPr wrap="square" rtlCol="0">
            <a:spAutoFit/>
          </a:bodyPr>
          <a:lstStyle/>
          <a:p>
            <a:r>
              <a:rPr lang="en-US" sz="4000" b="1" dirty="0"/>
              <a:t>Indirect Approach</a:t>
            </a:r>
          </a:p>
        </p:txBody>
      </p:sp>
      <p:sp>
        <p:nvSpPr>
          <p:cNvPr id="9" name="TextBox 8">
            <a:extLst>
              <a:ext uri="{FF2B5EF4-FFF2-40B4-BE49-F238E27FC236}">
                <a16:creationId xmlns:a16="http://schemas.microsoft.com/office/drawing/2014/main" id="{DE812D14-1937-6481-EDCD-5B71840824F6}"/>
              </a:ext>
            </a:extLst>
          </p:cNvPr>
          <p:cNvSpPr txBox="1"/>
          <p:nvPr/>
        </p:nvSpPr>
        <p:spPr>
          <a:xfrm>
            <a:off x="1265143" y="4093530"/>
            <a:ext cx="1290917" cy="369332"/>
          </a:xfrm>
          <a:prstGeom prst="rect">
            <a:avLst/>
          </a:prstGeom>
          <a:noFill/>
        </p:spPr>
        <p:txBody>
          <a:bodyPr wrap="square" rtlCol="0">
            <a:spAutoFit/>
          </a:bodyPr>
          <a:lstStyle/>
          <a:p>
            <a:r>
              <a:rPr lang="en-US" dirty="0"/>
              <a:t>Resistance</a:t>
            </a:r>
          </a:p>
        </p:txBody>
      </p:sp>
      <p:sp>
        <p:nvSpPr>
          <p:cNvPr id="10" name="TextBox 9">
            <a:extLst>
              <a:ext uri="{FF2B5EF4-FFF2-40B4-BE49-F238E27FC236}">
                <a16:creationId xmlns:a16="http://schemas.microsoft.com/office/drawing/2014/main" id="{251F781F-CC5D-1019-A264-406F1B559B7B}"/>
              </a:ext>
            </a:extLst>
          </p:cNvPr>
          <p:cNvSpPr txBox="1"/>
          <p:nvPr/>
        </p:nvSpPr>
        <p:spPr>
          <a:xfrm>
            <a:off x="9489141" y="4090718"/>
            <a:ext cx="1439956" cy="369332"/>
          </a:xfrm>
          <a:prstGeom prst="rect">
            <a:avLst/>
          </a:prstGeom>
          <a:noFill/>
        </p:spPr>
        <p:txBody>
          <a:bodyPr wrap="square" rtlCol="0">
            <a:spAutoFit/>
          </a:bodyPr>
          <a:lstStyle/>
          <a:p>
            <a:r>
              <a:rPr lang="en-US" dirty="0"/>
              <a:t>Engagement</a:t>
            </a:r>
          </a:p>
        </p:txBody>
      </p:sp>
    </p:spTree>
    <p:extLst>
      <p:ext uri="{BB962C8B-B14F-4D97-AF65-F5344CB8AC3E}">
        <p14:creationId xmlns:p14="http://schemas.microsoft.com/office/powerpoint/2010/main" val="3191171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AD4494C1-E941-63EA-F960-8966E7F6BB59}"/>
              </a:ext>
            </a:extLst>
          </p:cNvPr>
          <p:cNvSpPr/>
          <p:nvPr/>
        </p:nvSpPr>
        <p:spPr>
          <a:xfrm>
            <a:off x="152400" y="660471"/>
            <a:ext cx="3467100" cy="5537057"/>
          </a:xfrm>
          <a:prstGeom prst="roundRect">
            <a:avLst/>
          </a:prstGeom>
          <a:blipFill dpi="0" rotWithShape="1">
            <a:blip r:embed="rId3">
              <a:alphaModFix amt="45206"/>
            </a:blip>
            <a:srcRect/>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descr="Key &amp; Peele Knew How to Tell a Race Joke">
            <a:extLst>
              <a:ext uri="{FF2B5EF4-FFF2-40B4-BE49-F238E27FC236}">
                <a16:creationId xmlns:a16="http://schemas.microsoft.com/office/drawing/2014/main" id="{3C071B4F-AB6E-B272-2BAA-591280DDB826}"/>
              </a:ext>
            </a:extLst>
          </p:cNvPr>
          <p:cNvPicPr>
            <a:picLocks noChangeAspect="1"/>
          </p:cNvPicPr>
          <p:nvPr/>
        </p:nvPicPr>
        <p:blipFill>
          <a:blip r:embed="rId4"/>
          <a:stretch>
            <a:fillRect/>
          </a:stretch>
        </p:blipFill>
        <p:spPr>
          <a:xfrm>
            <a:off x="4764741" y="1854835"/>
            <a:ext cx="6006353" cy="3148330"/>
          </a:xfrm>
          <a:prstGeom prst="rect">
            <a:avLst/>
          </a:prstGeom>
        </p:spPr>
      </p:pic>
      <p:sp>
        <p:nvSpPr>
          <p:cNvPr id="4" name="TextBox 3">
            <a:extLst>
              <a:ext uri="{FF2B5EF4-FFF2-40B4-BE49-F238E27FC236}">
                <a16:creationId xmlns:a16="http://schemas.microsoft.com/office/drawing/2014/main" id="{CE8CBB6A-E226-720F-06A9-40DEEFED1E57}"/>
              </a:ext>
            </a:extLst>
          </p:cNvPr>
          <p:cNvSpPr txBox="1"/>
          <p:nvPr/>
        </p:nvSpPr>
        <p:spPr>
          <a:xfrm>
            <a:off x="400050" y="1092200"/>
            <a:ext cx="3082738" cy="2308324"/>
          </a:xfrm>
          <a:prstGeom prst="rect">
            <a:avLst/>
          </a:prstGeom>
          <a:noFill/>
        </p:spPr>
        <p:txBody>
          <a:bodyPr wrap="square" rtlCol="0">
            <a:spAutoFit/>
          </a:bodyPr>
          <a:lstStyle/>
          <a:p>
            <a:r>
              <a:rPr lang="en-US" b="1" dirty="0"/>
              <a:t>Comedy Duo: </a:t>
            </a:r>
            <a:r>
              <a:rPr lang="en-US" dirty="0"/>
              <a:t>Key and Peele</a:t>
            </a:r>
          </a:p>
          <a:p>
            <a:endParaRPr lang="en-US" dirty="0"/>
          </a:p>
          <a:p>
            <a:r>
              <a:rPr lang="en-US" b="1" dirty="0"/>
              <a:t>Case Study: </a:t>
            </a:r>
            <a:r>
              <a:rPr lang="en-US" dirty="0"/>
              <a:t>Auction Block</a:t>
            </a:r>
          </a:p>
          <a:p>
            <a:r>
              <a:rPr lang="en-US" dirty="0"/>
              <a:t>1848 slave auction setting</a:t>
            </a:r>
          </a:p>
          <a:p>
            <a:endParaRPr lang="en-US" dirty="0"/>
          </a:p>
          <a:p>
            <a:r>
              <a:rPr lang="en-US" b="1" dirty="0"/>
              <a:t>Enslaved Men: </a:t>
            </a:r>
            <a:r>
              <a:rPr lang="en-US" dirty="0"/>
              <a:t>defiance -&gt; desperate competition</a:t>
            </a:r>
            <a:endParaRPr lang="en-US" b="1" dirty="0"/>
          </a:p>
          <a:p>
            <a:endParaRPr lang="en-US" b="1" dirty="0"/>
          </a:p>
        </p:txBody>
      </p:sp>
      <p:sp>
        <p:nvSpPr>
          <p:cNvPr id="5" name="TextBox 4">
            <a:extLst>
              <a:ext uri="{FF2B5EF4-FFF2-40B4-BE49-F238E27FC236}">
                <a16:creationId xmlns:a16="http://schemas.microsoft.com/office/drawing/2014/main" id="{66FB156F-0D09-FAD6-2097-1195D04B40E8}"/>
              </a:ext>
            </a:extLst>
          </p:cNvPr>
          <p:cNvSpPr txBox="1"/>
          <p:nvPr/>
        </p:nvSpPr>
        <p:spPr>
          <a:xfrm>
            <a:off x="4220134" y="738257"/>
            <a:ext cx="7095565" cy="707886"/>
          </a:xfrm>
          <a:prstGeom prst="rect">
            <a:avLst/>
          </a:prstGeom>
          <a:noFill/>
        </p:spPr>
        <p:txBody>
          <a:bodyPr wrap="square" rtlCol="0">
            <a:spAutoFit/>
          </a:bodyPr>
          <a:lstStyle/>
          <a:p>
            <a:r>
              <a:rPr lang="en-US" sz="4000" b="1" dirty="0"/>
              <a:t>Political Satire: Key and Peele</a:t>
            </a:r>
          </a:p>
        </p:txBody>
      </p:sp>
    </p:spTree>
    <p:extLst>
      <p:ext uri="{BB962C8B-B14F-4D97-AF65-F5344CB8AC3E}">
        <p14:creationId xmlns:p14="http://schemas.microsoft.com/office/powerpoint/2010/main" val="2982972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EEC1-14C1-AC46-BFF7-CEA5C2EDEEC4}"/>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D4E4457A-A69B-084A-7722-6B60A3B2DB97}"/>
              </a:ext>
            </a:extLst>
          </p:cNvPr>
          <p:cNvSpPr/>
          <p:nvPr/>
        </p:nvSpPr>
        <p:spPr>
          <a:xfrm>
            <a:off x="152400" y="660471"/>
            <a:ext cx="3467100" cy="5537057"/>
          </a:xfrm>
          <a:prstGeom prst="roundRect">
            <a:avLst/>
          </a:prstGeom>
          <a:blipFill dpi="0" rotWithShape="1">
            <a:blip r:embed="rId3">
              <a:alphaModFix amt="45206"/>
            </a:blip>
            <a:srcRect/>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descr="Key &amp; Peele Knew How to Tell a Race Joke">
            <a:extLst>
              <a:ext uri="{FF2B5EF4-FFF2-40B4-BE49-F238E27FC236}">
                <a16:creationId xmlns:a16="http://schemas.microsoft.com/office/drawing/2014/main" id="{727AA0DA-C6DE-77E4-5D8E-8669F106ECEC}"/>
              </a:ext>
            </a:extLst>
          </p:cNvPr>
          <p:cNvPicPr>
            <a:picLocks noChangeAspect="1"/>
          </p:cNvPicPr>
          <p:nvPr/>
        </p:nvPicPr>
        <p:blipFill>
          <a:blip r:embed="rId4"/>
          <a:stretch>
            <a:fillRect/>
          </a:stretch>
        </p:blipFill>
        <p:spPr>
          <a:xfrm>
            <a:off x="4764741" y="1854835"/>
            <a:ext cx="6006353" cy="3148330"/>
          </a:xfrm>
          <a:prstGeom prst="rect">
            <a:avLst/>
          </a:prstGeom>
        </p:spPr>
      </p:pic>
      <p:sp>
        <p:nvSpPr>
          <p:cNvPr id="4" name="TextBox 3">
            <a:extLst>
              <a:ext uri="{FF2B5EF4-FFF2-40B4-BE49-F238E27FC236}">
                <a16:creationId xmlns:a16="http://schemas.microsoft.com/office/drawing/2014/main" id="{2943DDD4-CAAB-F2A9-61F6-6B48563124E1}"/>
              </a:ext>
            </a:extLst>
          </p:cNvPr>
          <p:cNvSpPr txBox="1"/>
          <p:nvPr/>
        </p:nvSpPr>
        <p:spPr>
          <a:xfrm>
            <a:off x="400050" y="1092200"/>
            <a:ext cx="3082738" cy="3416320"/>
          </a:xfrm>
          <a:prstGeom prst="rect">
            <a:avLst/>
          </a:prstGeom>
          <a:noFill/>
        </p:spPr>
        <p:txBody>
          <a:bodyPr wrap="square" rtlCol="0">
            <a:spAutoFit/>
          </a:bodyPr>
          <a:lstStyle/>
          <a:p>
            <a:r>
              <a:rPr lang="en-US" b="1" dirty="0"/>
              <a:t>How it works:</a:t>
            </a:r>
          </a:p>
          <a:p>
            <a:endParaRPr lang="en-US" b="1" dirty="0"/>
          </a:p>
          <a:p>
            <a:r>
              <a:rPr lang="en-US" b="1" dirty="0"/>
              <a:t>Uses: </a:t>
            </a:r>
          </a:p>
          <a:p>
            <a:pPr marL="285750" indent="-285750">
              <a:buFont typeface="Arial" panose="020B0604020202020204" pitchFamily="34" charset="0"/>
              <a:buChar char="•"/>
            </a:pPr>
            <a:r>
              <a:rPr lang="en-US" dirty="0"/>
              <a:t>Irony</a:t>
            </a:r>
          </a:p>
          <a:p>
            <a:pPr marL="285750" indent="-285750">
              <a:buFont typeface="Arial" panose="020B0604020202020204" pitchFamily="34" charset="0"/>
              <a:buChar char="•"/>
            </a:pPr>
            <a:r>
              <a:rPr lang="en-US" dirty="0"/>
              <a:t>Absurdity</a:t>
            </a:r>
          </a:p>
          <a:p>
            <a:pPr marL="285750" indent="-285750">
              <a:buFont typeface="Arial" panose="020B0604020202020204" pitchFamily="34" charset="0"/>
              <a:buChar char="•"/>
            </a:pPr>
            <a:endParaRPr lang="en-US" dirty="0"/>
          </a:p>
          <a:p>
            <a:r>
              <a:rPr lang="en-US" b="1" dirty="0"/>
              <a:t>Effects:</a:t>
            </a:r>
          </a:p>
          <a:p>
            <a:pPr marL="285750" indent="-285750">
              <a:buFont typeface="Arial" panose="020B0604020202020204" pitchFamily="34" charset="0"/>
              <a:buChar char="•"/>
            </a:pPr>
            <a:r>
              <a:rPr lang="en-US" dirty="0"/>
              <a:t>Makes difficult history approachable</a:t>
            </a:r>
          </a:p>
          <a:p>
            <a:pPr marL="285750" indent="-285750">
              <a:buFont typeface="Arial" panose="020B0604020202020204" pitchFamily="34" charset="0"/>
              <a:buChar char="•"/>
            </a:pPr>
            <a:r>
              <a:rPr lang="en-US" dirty="0"/>
              <a:t>Audiences confront moral contradiction themselves</a:t>
            </a:r>
          </a:p>
          <a:p>
            <a:pPr marL="285750" indent="-285750">
              <a:buFont typeface="Arial" panose="020B0604020202020204" pitchFamily="34" charset="0"/>
              <a:buChar char="•"/>
            </a:pPr>
            <a:r>
              <a:rPr lang="en-US" dirty="0"/>
              <a:t>No direct lecturing</a:t>
            </a:r>
          </a:p>
        </p:txBody>
      </p:sp>
      <p:sp>
        <p:nvSpPr>
          <p:cNvPr id="5" name="TextBox 4">
            <a:extLst>
              <a:ext uri="{FF2B5EF4-FFF2-40B4-BE49-F238E27FC236}">
                <a16:creationId xmlns:a16="http://schemas.microsoft.com/office/drawing/2014/main" id="{D993B887-0B2F-9F2D-3A65-BC409F92E064}"/>
              </a:ext>
            </a:extLst>
          </p:cNvPr>
          <p:cNvSpPr txBox="1"/>
          <p:nvPr/>
        </p:nvSpPr>
        <p:spPr>
          <a:xfrm>
            <a:off x="4220134" y="738257"/>
            <a:ext cx="7095565" cy="707886"/>
          </a:xfrm>
          <a:prstGeom prst="rect">
            <a:avLst/>
          </a:prstGeom>
          <a:noFill/>
        </p:spPr>
        <p:txBody>
          <a:bodyPr wrap="square" rtlCol="0">
            <a:spAutoFit/>
          </a:bodyPr>
          <a:lstStyle/>
          <a:p>
            <a:r>
              <a:rPr lang="en-US" sz="4000" b="1" dirty="0"/>
              <a:t>Political Satire: Key and Peele</a:t>
            </a:r>
          </a:p>
        </p:txBody>
      </p:sp>
    </p:spTree>
    <p:extLst>
      <p:ext uri="{BB962C8B-B14F-4D97-AF65-F5344CB8AC3E}">
        <p14:creationId xmlns:p14="http://schemas.microsoft.com/office/powerpoint/2010/main" val="2193748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906339E-25E4-7AD0-DC72-F37BA90BE765}"/>
              </a:ext>
            </a:extLst>
          </p:cNvPr>
          <p:cNvSpPr txBox="1"/>
          <p:nvPr/>
        </p:nvSpPr>
        <p:spPr>
          <a:xfrm>
            <a:off x="599609" y="679731"/>
            <a:ext cx="4171994" cy="373654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000" b="1" kern="1200">
                <a:solidFill>
                  <a:schemeClr val="tx1"/>
                </a:solidFill>
                <a:latin typeface="+mj-lt"/>
                <a:ea typeface="+mj-ea"/>
                <a:cs typeface="+mj-cs"/>
              </a:rPr>
              <a:t>Audience Reception</a:t>
            </a:r>
          </a:p>
        </p:txBody>
      </p:sp>
      <p:grpSp>
        <p:nvGrpSpPr>
          <p:cNvPr id="10" name="Group 9">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1" name="Straight Connector 10">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e chart with different colored circles&#10;&#10;AI-generated content may be incorrect.">
            <a:extLst>
              <a:ext uri="{FF2B5EF4-FFF2-40B4-BE49-F238E27FC236}">
                <a16:creationId xmlns:a16="http://schemas.microsoft.com/office/drawing/2014/main" id="{6791D97C-EDF4-9A03-C06C-92D35A1DE0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34250" y="557360"/>
            <a:ext cx="5421474" cy="5632704"/>
          </a:xfrm>
          <a:prstGeom prst="rect">
            <a:avLst/>
          </a:prstGeom>
        </p:spPr>
      </p:pic>
    </p:spTree>
    <p:extLst>
      <p:ext uri="{BB962C8B-B14F-4D97-AF65-F5344CB8AC3E}">
        <p14:creationId xmlns:p14="http://schemas.microsoft.com/office/powerpoint/2010/main" val="272837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D22DDC-C264-7A7E-B095-7A5883134F4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761D418-D9BD-3CF8-B605-B154958BB588}"/>
              </a:ext>
            </a:extLst>
          </p:cNvPr>
          <p:cNvSpPr txBox="1"/>
          <p:nvPr/>
        </p:nvSpPr>
        <p:spPr>
          <a:xfrm>
            <a:off x="599609" y="679731"/>
            <a:ext cx="4171994" cy="373654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000" b="1" kern="1200">
                <a:solidFill>
                  <a:schemeClr val="tx1"/>
                </a:solidFill>
                <a:latin typeface="+mj-lt"/>
                <a:ea typeface="+mj-ea"/>
                <a:cs typeface="+mj-cs"/>
              </a:rPr>
              <a:t>Audience Reception</a:t>
            </a:r>
          </a:p>
        </p:txBody>
      </p:sp>
      <p:grpSp>
        <p:nvGrpSpPr>
          <p:cNvPr id="11" name="Group 1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e chart with different colored circles&#10;&#10;AI-generated content may be incorrect.">
            <a:extLst>
              <a:ext uri="{FF2B5EF4-FFF2-40B4-BE49-F238E27FC236}">
                <a16:creationId xmlns:a16="http://schemas.microsoft.com/office/drawing/2014/main" id="{FC84553F-D955-FF24-04B4-4BFB7D1FB0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0572" y="1172247"/>
            <a:ext cx="5608830" cy="4402930"/>
          </a:xfrm>
          <a:prstGeom prst="rect">
            <a:avLst/>
          </a:prstGeom>
        </p:spPr>
      </p:pic>
    </p:spTree>
    <p:extLst>
      <p:ext uri="{BB962C8B-B14F-4D97-AF65-F5344CB8AC3E}">
        <p14:creationId xmlns:p14="http://schemas.microsoft.com/office/powerpoint/2010/main" val="3036316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58298-10B4-51F3-9965-4BC09830AD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F1BA7B-8CBC-0969-EA9C-E2634B8AD423}"/>
              </a:ext>
            </a:extLst>
          </p:cNvPr>
          <p:cNvSpPr txBox="1"/>
          <p:nvPr/>
        </p:nvSpPr>
        <p:spPr>
          <a:xfrm>
            <a:off x="639950" y="2121817"/>
            <a:ext cx="4362356" cy="261436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000" b="1" kern="1200" dirty="0">
                <a:solidFill>
                  <a:schemeClr val="tx1"/>
                </a:solidFill>
                <a:latin typeface="+mj-lt"/>
                <a:ea typeface="+mj-ea"/>
                <a:cs typeface="+mj-cs"/>
              </a:rPr>
              <a:t>REACTANCE THEORY IN ACTION</a:t>
            </a:r>
          </a:p>
        </p:txBody>
      </p:sp>
      <p:pic>
        <p:nvPicPr>
          <p:cNvPr id="4" name="Picture 3" descr="A pie chart with different colored circles&#10;&#10;AI-generated content may be incorrect.">
            <a:extLst>
              <a:ext uri="{FF2B5EF4-FFF2-40B4-BE49-F238E27FC236}">
                <a16:creationId xmlns:a16="http://schemas.microsoft.com/office/drawing/2014/main" id="{E23CCE08-57A8-DB25-0509-88E173C6D8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0572" y="1172247"/>
            <a:ext cx="5608830" cy="4402930"/>
          </a:xfrm>
          <a:prstGeom prst="rect">
            <a:avLst/>
          </a:prstGeom>
        </p:spPr>
      </p:pic>
    </p:spTree>
    <p:extLst>
      <p:ext uri="{BB962C8B-B14F-4D97-AF65-F5344CB8AC3E}">
        <p14:creationId xmlns:p14="http://schemas.microsoft.com/office/powerpoint/2010/main" val="3454168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A611D06-8224-70D1-7F5C-F25F19FAC205}"/>
              </a:ext>
            </a:extLst>
          </p:cNvPr>
          <p:cNvSpPr txBox="1"/>
          <p:nvPr/>
        </p:nvSpPr>
        <p:spPr>
          <a:xfrm>
            <a:off x="9267909" y="2023110"/>
            <a:ext cx="2622006" cy="284607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b="1" kern="1200" dirty="0">
                <a:solidFill>
                  <a:schemeClr val="tx1"/>
                </a:solidFill>
                <a:latin typeface="+mj-lt"/>
                <a:ea typeface="+mj-ea"/>
                <a:cs typeface="+mj-cs"/>
              </a:rPr>
              <a:t>Effective Distribution Channel</a:t>
            </a:r>
          </a:p>
        </p:txBody>
      </p:sp>
      <p:sp>
        <p:nvSpPr>
          <p:cNvPr id="11" name="Rectangle 10">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orful steps with text&#10;&#10;AI-generated content may be incorrect.">
            <a:extLst>
              <a:ext uri="{FF2B5EF4-FFF2-40B4-BE49-F238E27FC236}">
                <a16:creationId xmlns:a16="http://schemas.microsoft.com/office/drawing/2014/main" id="{DF08BF46-C4BA-8296-A59C-1437383E1A4A}"/>
              </a:ext>
            </a:extLst>
          </p:cNvPr>
          <p:cNvPicPr>
            <a:picLocks noChangeAspect="1"/>
          </p:cNvPicPr>
          <p:nvPr/>
        </p:nvPicPr>
        <p:blipFill>
          <a:blip r:embed="rId3"/>
          <a:stretch>
            <a:fillRect/>
          </a:stretch>
        </p:blipFill>
        <p:spPr>
          <a:xfrm>
            <a:off x="545238" y="934716"/>
            <a:ext cx="7608304" cy="5059523"/>
          </a:xfrm>
          <a:prstGeom prst="rect">
            <a:avLst/>
          </a:prstGeom>
        </p:spPr>
      </p:pic>
      <p:sp>
        <p:nvSpPr>
          <p:cNvPr id="15" name="Rectangle 14">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9351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a:extLst>
              <a:ext uri="{FF2B5EF4-FFF2-40B4-BE49-F238E27FC236}">
                <a16:creationId xmlns:a16="http://schemas.microsoft.com/office/drawing/2014/main" id="{141AC4BB-FFC3-0075-E0C7-5DABC3249A31}"/>
              </a:ext>
            </a:extLst>
          </p:cNvPr>
          <p:cNvSpPr/>
          <p:nvPr/>
        </p:nvSpPr>
        <p:spPr>
          <a:xfrm>
            <a:off x="3641912" y="2474258"/>
            <a:ext cx="1035424" cy="1909483"/>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hevron 2">
            <a:extLst>
              <a:ext uri="{FF2B5EF4-FFF2-40B4-BE49-F238E27FC236}">
                <a16:creationId xmlns:a16="http://schemas.microsoft.com/office/drawing/2014/main" id="{BEC7CA1C-8020-C87C-02ED-835D6E328CB9}"/>
              </a:ext>
            </a:extLst>
          </p:cNvPr>
          <p:cNvSpPr/>
          <p:nvPr/>
        </p:nvSpPr>
        <p:spPr>
          <a:xfrm>
            <a:off x="7514664" y="2474258"/>
            <a:ext cx="1035424" cy="1909483"/>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Rounded Rectangle 3">
            <a:extLst>
              <a:ext uri="{FF2B5EF4-FFF2-40B4-BE49-F238E27FC236}">
                <a16:creationId xmlns:a16="http://schemas.microsoft.com/office/drawing/2014/main" id="{6D1C958B-D20A-E01C-A5FE-D34068B7ED6D}"/>
              </a:ext>
            </a:extLst>
          </p:cNvPr>
          <p:cNvSpPr/>
          <p:nvPr/>
        </p:nvSpPr>
        <p:spPr>
          <a:xfrm>
            <a:off x="1288677" y="2474257"/>
            <a:ext cx="1869142" cy="19094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Views</a:t>
            </a:r>
          </a:p>
        </p:txBody>
      </p:sp>
      <p:sp>
        <p:nvSpPr>
          <p:cNvPr id="5" name="Rounded Rectangle 4">
            <a:extLst>
              <a:ext uri="{FF2B5EF4-FFF2-40B4-BE49-F238E27FC236}">
                <a16:creationId xmlns:a16="http://schemas.microsoft.com/office/drawing/2014/main" id="{9D6EC742-68D7-BCCE-A399-E64F84055FB7}"/>
              </a:ext>
            </a:extLst>
          </p:cNvPr>
          <p:cNvSpPr/>
          <p:nvPr/>
        </p:nvSpPr>
        <p:spPr>
          <a:xfrm>
            <a:off x="5161429" y="2474258"/>
            <a:ext cx="1869142" cy="19094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Discourse</a:t>
            </a:r>
          </a:p>
        </p:txBody>
      </p:sp>
      <p:sp>
        <p:nvSpPr>
          <p:cNvPr id="6" name="Rounded Rectangle 5">
            <a:extLst>
              <a:ext uri="{FF2B5EF4-FFF2-40B4-BE49-F238E27FC236}">
                <a16:creationId xmlns:a16="http://schemas.microsoft.com/office/drawing/2014/main" id="{4440A7FE-2998-1079-A4E0-2C71BBB2764E}"/>
              </a:ext>
            </a:extLst>
          </p:cNvPr>
          <p:cNvSpPr/>
          <p:nvPr/>
        </p:nvSpPr>
        <p:spPr>
          <a:xfrm>
            <a:off x="9034180" y="2474257"/>
            <a:ext cx="1869142" cy="19094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Change</a:t>
            </a:r>
          </a:p>
        </p:txBody>
      </p:sp>
      <p:sp>
        <p:nvSpPr>
          <p:cNvPr id="7" name="TextBox 6">
            <a:extLst>
              <a:ext uri="{FF2B5EF4-FFF2-40B4-BE49-F238E27FC236}">
                <a16:creationId xmlns:a16="http://schemas.microsoft.com/office/drawing/2014/main" id="{995F6178-52D0-B3D3-3E81-B4A280AB5942}"/>
              </a:ext>
            </a:extLst>
          </p:cNvPr>
          <p:cNvSpPr txBox="1"/>
          <p:nvPr/>
        </p:nvSpPr>
        <p:spPr>
          <a:xfrm>
            <a:off x="3493994" y="309282"/>
            <a:ext cx="5204012" cy="707886"/>
          </a:xfrm>
          <a:prstGeom prst="rect">
            <a:avLst/>
          </a:prstGeom>
          <a:noFill/>
        </p:spPr>
        <p:txBody>
          <a:bodyPr wrap="square" rtlCol="0">
            <a:spAutoFit/>
          </a:bodyPr>
          <a:lstStyle/>
          <a:p>
            <a:r>
              <a:rPr lang="en-US" sz="4000" b="1" dirty="0"/>
              <a:t>Why Does This Matter</a:t>
            </a:r>
          </a:p>
        </p:txBody>
      </p:sp>
    </p:spTree>
    <p:extLst>
      <p:ext uri="{BB962C8B-B14F-4D97-AF65-F5344CB8AC3E}">
        <p14:creationId xmlns:p14="http://schemas.microsoft.com/office/powerpoint/2010/main" val="94131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DE1637-3013-1825-8E8D-B4B88A731D06}"/>
              </a:ext>
            </a:extLst>
          </p:cNvPr>
          <p:cNvSpPr txBox="1"/>
          <p:nvPr/>
        </p:nvSpPr>
        <p:spPr>
          <a:xfrm>
            <a:off x="4038600" y="282388"/>
            <a:ext cx="4114800" cy="1323439"/>
          </a:xfrm>
          <a:prstGeom prst="rect">
            <a:avLst/>
          </a:prstGeom>
          <a:noFill/>
        </p:spPr>
        <p:txBody>
          <a:bodyPr wrap="square" rtlCol="0">
            <a:spAutoFit/>
          </a:bodyPr>
          <a:lstStyle/>
          <a:p>
            <a:r>
              <a:rPr lang="en-US" sz="4000" b="1" dirty="0"/>
              <a:t>Validation At The Highest Levels</a:t>
            </a:r>
          </a:p>
        </p:txBody>
      </p:sp>
      <p:pic>
        <p:nvPicPr>
          <p:cNvPr id="4" name="Picture 3" descr="A person in a suit standing at a podium with a person in a suit&#10;&#10;AI-generated content may be incorrect.">
            <a:extLst>
              <a:ext uri="{FF2B5EF4-FFF2-40B4-BE49-F238E27FC236}">
                <a16:creationId xmlns:a16="http://schemas.microsoft.com/office/drawing/2014/main" id="{17C63799-B9E8-7BDF-89BD-0C0A5CE6B562}"/>
              </a:ext>
            </a:extLst>
          </p:cNvPr>
          <p:cNvPicPr>
            <a:picLocks noChangeAspect="1"/>
          </p:cNvPicPr>
          <p:nvPr/>
        </p:nvPicPr>
        <p:blipFill>
          <a:blip r:embed="rId3"/>
          <a:stretch>
            <a:fillRect/>
          </a:stretch>
        </p:blipFill>
        <p:spPr>
          <a:xfrm>
            <a:off x="381960" y="3129846"/>
            <a:ext cx="5297181" cy="2980630"/>
          </a:xfrm>
          <a:prstGeom prst="rect">
            <a:avLst/>
          </a:prstGeom>
        </p:spPr>
      </p:pic>
      <p:pic>
        <p:nvPicPr>
          <p:cNvPr id="6" name="Picture 5" descr="A person in a suit and tie talking to another person&#10;&#10;AI-generated content may be incorrect.">
            <a:extLst>
              <a:ext uri="{FF2B5EF4-FFF2-40B4-BE49-F238E27FC236}">
                <a16:creationId xmlns:a16="http://schemas.microsoft.com/office/drawing/2014/main" id="{8ABE56AC-9511-1E2E-D7B9-91FF274EA7F9}"/>
              </a:ext>
            </a:extLst>
          </p:cNvPr>
          <p:cNvPicPr>
            <a:picLocks noChangeAspect="1"/>
          </p:cNvPicPr>
          <p:nvPr/>
        </p:nvPicPr>
        <p:blipFill>
          <a:blip r:embed="rId4"/>
          <a:stretch>
            <a:fillRect/>
          </a:stretch>
        </p:blipFill>
        <p:spPr>
          <a:xfrm>
            <a:off x="6512861" y="3129846"/>
            <a:ext cx="5298898" cy="2980630"/>
          </a:xfrm>
          <a:prstGeom prst="rect">
            <a:avLst/>
          </a:prstGeom>
        </p:spPr>
      </p:pic>
      <p:sp>
        <p:nvSpPr>
          <p:cNvPr id="7" name="TextBox 6">
            <a:extLst>
              <a:ext uri="{FF2B5EF4-FFF2-40B4-BE49-F238E27FC236}">
                <a16:creationId xmlns:a16="http://schemas.microsoft.com/office/drawing/2014/main" id="{D9F04744-5ED0-1ADC-131E-EF8DC081517D}"/>
              </a:ext>
            </a:extLst>
          </p:cNvPr>
          <p:cNvSpPr txBox="1"/>
          <p:nvPr/>
        </p:nvSpPr>
        <p:spPr>
          <a:xfrm>
            <a:off x="1662671" y="2606626"/>
            <a:ext cx="2735758" cy="523220"/>
          </a:xfrm>
          <a:prstGeom prst="rect">
            <a:avLst/>
          </a:prstGeom>
          <a:noFill/>
        </p:spPr>
        <p:txBody>
          <a:bodyPr wrap="square" rtlCol="0">
            <a:spAutoFit/>
          </a:bodyPr>
          <a:lstStyle/>
          <a:p>
            <a:r>
              <a:rPr lang="en-US" sz="2800" b="1" dirty="0"/>
              <a:t>Peabody Award</a:t>
            </a:r>
          </a:p>
        </p:txBody>
      </p:sp>
      <p:sp>
        <p:nvSpPr>
          <p:cNvPr id="8" name="TextBox 7">
            <a:extLst>
              <a:ext uri="{FF2B5EF4-FFF2-40B4-BE49-F238E27FC236}">
                <a16:creationId xmlns:a16="http://schemas.microsoft.com/office/drawing/2014/main" id="{0D6D95E7-1954-B7EA-5BC3-EB32BEE661C5}"/>
              </a:ext>
            </a:extLst>
          </p:cNvPr>
          <p:cNvSpPr txBox="1"/>
          <p:nvPr/>
        </p:nvSpPr>
        <p:spPr>
          <a:xfrm>
            <a:off x="6736356" y="2606626"/>
            <a:ext cx="4851908" cy="523220"/>
          </a:xfrm>
          <a:prstGeom prst="rect">
            <a:avLst/>
          </a:prstGeom>
          <a:noFill/>
        </p:spPr>
        <p:txBody>
          <a:bodyPr wrap="square" rtlCol="0">
            <a:spAutoFit/>
          </a:bodyPr>
          <a:lstStyle/>
          <a:p>
            <a:r>
              <a:rPr lang="en-US" sz="2800" b="1" dirty="0"/>
              <a:t>Anger Translator with Obama</a:t>
            </a:r>
          </a:p>
        </p:txBody>
      </p:sp>
    </p:spTree>
    <p:extLst>
      <p:ext uri="{BB962C8B-B14F-4D97-AF65-F5344CB8AC3E}">
        <p14:creationId xmlns:p14="http://schemas.microsoft.com/office/powerpoint/2010/main" val="330559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451</TotalTime>
  <Words>715</Words>
  <Application>Microsoft Macintosh PowerPoint</Application>
  <PresentationFormat>Widescreen</PresentationFormat>
  <Paragraphs>130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616</dc:creator>
  <cp:lastModifiedBy>616</cp:lastModifiedBy>
  <cp:revision>3</cp:revision>
  <dcterms:created xsi:type="dcterms:W3CDTF">2026-01-15T07:24:41Z</dcterms:created>
  <dcterms:modified xsi:type="dcterms:W3CDTF">2026-01-15T14:56:20Z</dcterms:modified>
</cp:coreProperties>
</file>